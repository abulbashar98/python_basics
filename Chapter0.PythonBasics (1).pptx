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1" r:id="rId6"/>
    <p:sldId id="268" r:id="rId7"/>
    <p:sldId id="263" r:id="rId8"/>
    <p:sldId id="270" r:id="rId9"/>
    <p:sldId id="272" r:id="rId10"/>
    <p:sldId id="264" r:id="rId11"/>
    <p:sldId id="265" r:id="rId12"/>
    <p:sldId id="266" r:id="rId13"/>
    <p:sldId id="267" r:id="rId14"/>
    <p:sldId id="260" r:id="rId15"/>
    <p:sldId id="261" r:id="rId16"/>
    <p:sldId id="262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26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B2EC7-DEFE-4BEE-8302-BDB2B0A91F8C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A3CC6-8FFE-4093-B243-04183F097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82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 marL="342882" indent="0" algn="ctr">
              <a:buNone/>
              <a:defRPr sz="1500"/>
            </a:lvl2pPr>
            <a:lvl3pPr marL="685766" indent="0" algn="ctr">
              <a:buNone/>
              <a:defRPr sz="1351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4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C5141726-F866-43E1-AFC6-EE9481EDF53A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CHAO GAO, VAMK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ACB16993-BDEA-4A98-891E-50A6DA8CA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642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963" y="463029"/>
            <a:ext cx="8220075" cy="527579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963" y="1143000"/>
            <a:ext cx="8220075" cy="5125658"/>
          </a:xfrm>
        </p:spPr>
        <p:txBody>
          <a:bodyPr/>
          <a:lstStyle>
            <a:lvl1pPr>
              <a:defRPr sz="2000"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>
              <a:defRPr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defRPr>
            </a:lvl2pPr>
            <a:lvl3pPr>
              <a:defRPr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defRPr>
            </a:lvl3pPr>
            <a:lvl4pPr>
              <a:defRPr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defRPr>
            </a:lvl4pPr>
            <a:lvl5pPr>
              <a:defRPr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66725" y="6343660"/>
            <a:ext cx="20574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AB8AD47B-1DEF-4AE7-9253-01D729E0EBD7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CHAO GAO, VAMK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ACB16993-BDEA-4A98-891E-50A6DA8CA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3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7"/>
            <a:ext cx="7886700" cy="2852737"/>
          </a:xfrm>
        </p:spPr>
        <p:txBody>
          <a:bodyPr anchor="b">
            <a:normAutofit/>
          </a:bodyPr>
          <a:lstStyle>
            <a:lvl1pPr>
              <a:defRPr sz="36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2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 marL="34288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D7ED7AE4-DA4F-4586-85DD-C065F593951F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CHAO GAO, VAMK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ACB16993-BDEA-4A98-891E-50A6DA8CA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8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2pPr>
            <a:lvl3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3pPr>
            <a:lvl4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4pPr>
            <a:lvl5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2pPr>
            <a:lvl3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3pPr>
            <a:lvl4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4pPr>
            <a:lvl5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068303E4-C8AF-4615-8A30-20444DC41CF7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CHAO GAO, VAMK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ACB16993-BDEA-4A98-891E-50A6DA8CA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37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2pPr>
            <a:lvl3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3pPr>
            <a:lvl4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4pPr>
            <a:lvl5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2pPr>
            <a:lvl3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3pPr>
            <a:lvl4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4pPr>
            <a:lvl5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06FA2ECE-BFA3-464A-A6C6-FE43D0E7F15C}" type="datetime1">
              <a:rPr lang="en-US" smtClean="0"/>
              <a:t>10/3/2024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CHAO GAO, VAMK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ACB16993-BDEA-4A98-891E-50A6DA8CA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9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A8CDD7E7-9DAD-425E-9ECF-CA7BFD479031}" type="datetime1">
              <a:rPr lang="en-US" smtClean="0"/>
              <a:t>10/3/2024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CHAO GAO, VAMK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ACB16993-BDEA-4A98-891E-50A6DA8CA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2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94B338AF-4796-4F40-ACE9-907415B3EEE6}" type="datetime1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CHAO GAO, VAMK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ACB16993-BDEA-4A98-891E-50A6DA8CA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7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4"/>
            <a:ext cx="4629150" cy="4873625"/>
          </a:xfrm>
        </p:spPr>
        <p:txBody>
          <a:bodyPr/>
          <a:lstStyle>
            <a:lvl1pPr>
              <a:defRPr sz="24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>
              <a:defRPr sz="2100">
                <a:latin typeface="Cambria Math" panose="02040503050406030204" pitchFamily="18" charset="0"/>
                <a:ea typeface="Cambria Math" panose="02040503050406030204" pitchFamily="18" charset="0"/>
              </a:defRPr>
            </a:lvl2pPr>
            <a:lvl3pPr>
              <a:defRPr sz="1800">
                <a:latin typeface="Cambria Math" panose="02040503050406030204" pitchFamily="18" charset="0"/>
                <a:ea typeface="Cambria Math" panose="02040503050406030204" pitchFamily="18" charset="0"/>
              </a:defRPr>
            </a:lvl3pPr>
            <a:lvl4pPr>
              <a:defRPr sz="1500">
                <a:latin typeface="Cambria Math" panose="02040503050406030204" pitchFamily="18" charset="0"/>
                <a:ea typeface="Cambria Math" panose="02040503050406030204" pitchFamily="18" charset="0"/>
              </a:defRPr>
            </a:lvl4pPr>
            <a:lvl5pPr>
              <a:defRPr sz="1500">
                <a:latin typeface="Cambria Math" panose="02040503050406030204" pitchFamily="18" charset="0"/>
                <a:ea typeface="Cambria Math" panose="02040503050406030204" pitchFamily="18" charset="0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037BDD66-F131-4002-92D0-2F22ADB42C93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CHAO GAO, VAMK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ACB16993-BDEA-4A98-891E-50A6DA8CA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6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34"/>
            <a:ext cx="4629150" cy="4873625"/>
          </a:xfrm>
        </p:spPr>
        <p:txBody>
          <a:bodyPr/>
          <a:lstStyle>
            <a:lvl1pPr marL="0" indent="0">
              <a:buNone/>
              <a:defRPr sz="24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 marL="342882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4" indent="0">
              <a:buNone/>
              <a:defRPr sz="1500"/>
            </a:lvl6pPr>
            <a:lvl7pPr marL="2057298" indent="0">
              <a:buNone/>
              <a:defRPr sz="1500"/>
            </a:lvl7pPr>
            <a:lvl8pPr marL="2400180" indent="0">
              <a:buNone/>
              <a:defRPr sz="1500"/>
            </a:lvl8pPr>
            <a:lvl9pPr marL="2743062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9BDCB976-4BAA-4607-91F7-7DF2477B4BD8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CHAO GAO, VAMK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ACB16993-BDEA-4A98-891E-50A6DA8CA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83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2pPr>
            <a:lvl3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3pPr>
            <a:lvl4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4pPr>
            <a:lvl5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BFC6BDCE-5B31-41F8-A6D1-9655B7F5620D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CHAO GAO, VAMK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ACB16993-BDEA-4A98-891E-50A6DA8CA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07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2pPr>
            <a:lvl3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3pPr>
            <a:lvl4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4pPr>
            <a:lvl5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7F420B5E-AF9F-4AB3-9077-893C61FB1568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CHAO GAO, VAMK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ACB16993-BDEA-4A98-891E-50A6DA8CA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23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3"/>
            <a:ext cx="8686800" cy="549275"/>
          </a:xfrm>
        </p:spPr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371600"/>
            <a:ext cx="4267200" cy="5105400"/>
          </a:xfrm>
        </p:spPr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2pPr>
            <a:lvl3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3pPr>
            <a:lvl4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4pPr>
            <a:lvl5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267200" cy="5105400"/>
          </a:xfrm>
        </p:spPr>
        <p:txBody>
          <a:bodyPr/>
          <a:lstStyle>
            <a:lvl1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2pPr>
            <a:lvl3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3pPr>
            <a:lvl4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4pPr>
            <a:lvl5pPr>
              <a:defRPr>
                <a:latin typeface="Cambria Math" panose="02040503050406030204" pitchFamily="18" charset="0"/>
                <a:ea typeface="Cambria Math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934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7"/>
            <a:ext cx="8229600" cy="5397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82296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6376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09ED4891-A8F9-4C1B-AEBC-6532D52F88CF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9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US"/>
              <a:t>CHAO GAO, VAMK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29400" y="636376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2"/>
                </a:solidFill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fld id="{ACB16993-BDEA-4A98-891E-50A6DA8CA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Vaasan ammattikorkeakoulu"/>
          <p:cNvPicPr>
            <a:picLocks noChangeAspect="1" noChangeArrowheads="1"/>
          </p:cNvPicPr>
          <p:nvPr/>
        </p:nvPicPr>
        <p:blipFill>
          <a:blip r:embed="rId14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76901" y="704208"/>
            <a:ext cx="766583" cy="41277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A0AE0D7-E65B-473F-832C-922C051FD648}"/>
              </a:ext>
            </a:extLst>
          </p:cNvPr>
          <p:cNvSpPr/>
          <p:nvPr userDrawn="1"/>
        </p:nvSpPr>
        <p:spPr>
          <a:xfrm>
            <a:off x="457200" y="996950"/>
            <a:ext cx="8229600" cy="698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58758"/>
            <a:endParaRPr lang="en-US" sz="1000" dirty="0">
              <a:solidFill>
                <a:schemeClr val="bg2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5723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2"/>
          </a:solidFill>
          <a:latin typeface="Cambria Math" panose="02040503050406030204" pitchFamily="18" charset="0"/>
          <a:ea typeface="Cambria Math" panose="02040503050406030204" pitchFamily="18" charset="0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bg2"/>
          </a:solidFill>
          <a:latin typeface="Cambria Math" panose="02040503050406030204" pitchFamily="18" charset="0"/>
          <a:ea typeface="Cambria Math" panose="02040503050406030204" pitchFamily="18" charset="0"/>
          <a:cs typeface="+mn-cs"/>
        </a:defRPr>
      </a:lvl1pPr>
      <a:lvl2pPr marL="51432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Cambria Math" panose="02040503050406030204" pitchFamily="18" charset="0"/>
          <a:ea typeface="Cambria Math" panose="02040503050406030204" pitchFamily="18" charset="0"/>
          <a:cs typeface="+mn-cs"/>
        </a:defRPr>
      </a:lvl2pPr>
      <a:lvl3pPr marL="857208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bg2"/>
          </a:solidFill>
          <a:latin typeface="Cambria Math" panose="02040503050406030204" pitchFamily="18" charset="0"/>
          <a:ea typeface="Cambria Math" panose="02040503050406030204" pitchFamily="18" charset="0"/>
          <a:cs typeface="+mn-cs"/>
        </a:defRPr>
      </a:lvl3pPr>
      <a:lvl4pPr marL="1200091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bg2"/>
          </a:solidFill>
          <a:latin typeface="Cambria Math" panose="02040503050406030204" pitchFamily="18" charset="0"/>
          <a:ea typeface="Cambria Math" panose="02040503050406030204" pitchFamily="18" charset="0"/>
          <a:cs typeface="+mn-cs"/>
        </a:defRPr>
      </a:lvl4pPr>
      <a:lvl5pPr marL="154297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bg2"/>
          </a:solidFill>
          <a:latin typeface="Cambria Math" panose="02040503050406030204" pitchFamily="18" charset="0"/>
          <a:ea typeface="Cambria Math" panose="02040503050406030204" pitchFamily="18" charset="0"/>
          <a:cs typeface="+mn-cs"/>
        </a:defRPr>
      </a:lvl5pPr>
      <a:lvl6pPr marL="188585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visualstudio/python/?view=vs-2022" TargetMode="External"/><Relationship Id="rId2" Type="http://schemas.openxmlformats.org/officeDocument/2006/relationships/hyperlink" Target="https://code.visualstudio.com/docs/python/python-tutoria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recedence-and-associativity-of-operators-in-python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functions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ynative.com/python-get-execution-time-of-progra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9C2AF-80CE-437C-9549-52353C0DCF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and Algorithms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6738D0-9C64-4B1D-9B8F-C3F6E71398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Avoin</a:t>
            </a:r>
            <a:r>
              <a:rPr lang="en-US" dirty="0"/>
              <a:t> AMK/Open UAS course</a:t>
            </a:r>
          </a:p>
          <a:p>
            <a:r>
              <a:rPr lang="en-US" dirty="0"/>
              <a:t>5 cu</a:t>
            </a:r>
          </a:p>
          <a:p>
            <a:r>
              <a:rPr lang="en-US" dirty="0"/>
              <a:t>Autumn/</a:t>
            </a:r>
            <a:r>
              <a:rPr lang="en-US" dirty="0" err="1"/>
              <a:t>Syksy</a:t>
            </a:r>
            <a:r>
              <a:rPr lang="en-US" dirty="0"/>
              <a:t> 2024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lonna MT" panose="04020805060202030203" pitchFamily="82" charset="0"/>
              </a:rPr>
              <a:t>Chao GAO (D.Sc.)</a:t>
            </a:r>
            <a:endParaRPr lang="en-US" dirty="0">
              <a:solidFill>
                <a:srgbClr val="0070C0"/>
              </a:solidFill>
              <a:latin typeface="Colonna MT" panose="04020805060202030203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57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1681-8801-4437-8B79-99D5423EF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Course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DB4D6-2117-4E39-89B0-E84A26B4A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Basics </a:t>
            </a:r>
          </a:p>
          <a:p>
            <a:r>
              <a:rPr lang="en-US" dirty="0"/>
              <a:t>Python as OOP</a:t>
            </a:r>
          </a:p>
          <a:p>
            <a:r>
              <a:rPr lang="en-US" dirty="0"/>
              <a:t>Algorithm Analysis - what does "big-O" mean?</a:t>
            </a:r>
          </a:p>
          <a:p>
            <a:r>
              <a:rPr lang="en-US" dirty="0"/>
              <a:t>Dynamic Programming (Recursion)</a:t>
            </a:r>
          </a:p>
          <a:p>
            <a:r>
              <a:rPr lang="en-US" dirty="0"/>
              <a:t>Arrays, Stacks, Queues</a:t>
            </a:r>
          </a:p>
          <a:p>
            <a:r>
              <a:rPr lang="en-US" dirty="0"/>
              <a:t>Linked Lists and Trees</a:t>
            </a:r>
          </a:p>
          <a:p>
            <a:r>
              <a:rPr lang="en-US" dirty="0"/>
              <a:t>Maps and Hash Tables</a:t>
            </a:r>
          </a:p>
          <a:p>
            <a:r>
              <a:rPr lang="en-US" dirty="0"/>
              <a:t>Searching and Sorting</a:t>
            </a:r>
          </a:p>
          <a:p>
            <a:r>
              <a:rPr lang="en-US" dirty="0"/>
              <a:t>Graphs and Related Algorithms (STP, OSPF, etc.)</a:t>
            </a:r>
          </a:p>
          <a:p>
            <a:r>
              <a:rPr lang="en-US" dirty="0"/>
              <a:t>Machine Learning Algorithm -- Training a Neural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5B1C6-AE75-4FA5-A96E-B6B755EF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472C-1E22-4191-BAF8-8540DEF60A07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8FDEC-1F5F-47C4-B6BB-796C324A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CHAO GAO, VAMK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59B63-0034-4657-83FB-01AEE8A6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993-BDEA-4A98-891E-50A6DA8CA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24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233842-0E47-4A4A-A469-56336B4911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0</a:t>
            </a:r>
            <a:br>
              <a:rPr lang="en-US" dirty="0"/>
            </a:br>
            <a:r>
              <a:rPr lang="en-US" dirty="0"/>
              <a:t>Python Basics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BD09A9A-426F-4689-B200-6F89AC25A6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00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435B7-8C55-4BF9-AA7D-031BCE454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and Why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806B8-2232-4879-888E-59FE32F7C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is a high-level, general-purpose, object-oriented programming language. It emphasizes code readability with the use of significant indentation via the off-side rule. [</a:t>
            </a:r>
            <a:r>
              <a:rPr lang="en-US" dirty="0">
                <a:solidFill>
                  <a:srgbClr val="00B0F0"/>
                </a:solidFill>
              </a:rPr>
              <a:t>Wikipedia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Strictly formatted (indentation is compulsory)</a:t>
            </a:r>
          </a:p>
          <a:p>
            <a:pPr lvl="1"/>
            <a:r>
              <a:rPr lang="en-US" dirty="0"/>
              <a:t>Dynamically typed language (a variable can hold different types of data)</a:t>
            </a:r>
          </a:p>
          <a:p>
            <a:pPr lvl="1"/>
            <a:r>
              <a:rPr lang="en-US" dirty="0"/>
              <a:t>Garbage-collecting (collect all deleted objects)</a:t>
            </a:r>
          </a:p>
          <a:p>
            <a:pPr lvl="1"/>
            <a:r>
              <a:rPr lang="en-US" dirty="0"/>
              <a:t>Support structured, object-oriented, and functional programming paradigms</a:t>
            </a:r>
          </a:p>
          <a:p>
            <a:pPr lvl="1"/>
            <a:endParaRPr lang="en-US" dirty="0"/>
          </a:p>
          <a:p>
            <a:r>
              <a:rPr lang="en-US" dirty="0"/>
              <a:t>Reasons to use Python in this course:</a:t>
            </a:r>
          </a:p>
          <a:p>
            <a:pPr lvl="1"/>
            <a:r>
              <a:rPr lang="en-US" dirty="0"/>
              <a:t>Highly readable and portable</a:t>
            </a:r>
          </a:p>
          <a:p>
            <a:pPr lvl="1"/>
            <a:r>
              <a:rPr lang="en-US" dirty="0"/>
              <a:t>Built-in object-oriented data types (</a:t>
            </a:r>
            <a:r>
              <a:rPr lang="en-US" dirty="0">
                <a:solidFill>
                  <a:srgbClr val="00B0F0"/>
                </a:solidFill>
              </a:rPr>
              <a:t>bool, int, float, list, tuple, str, set, </a:t>
            </a:r>
            <a:r>
              <a:rPr lang="en-US" dirty="0" err="1">
                <a:solidFill>
                  <a:srgbClr val="00B0F0"/>
                </a:solidFill>
              </a:rPr>
              <a:t>frozenset</a:t>
            </a:r>
            <a:r>
              <a:rPr lang="en-US" dirty="0">
                <a:solidFill>
                  <a:srgbClr val="00B0F0"/>
                </a:solidFill>
              </a:rPr>
              <a:t>, </a:t>
            </a:r>
            <a:r>
              <a:rPr lang="en-US" dirty="0" err="1">
                <a:solidFill>
                  <a:srgbClr val="00B0F0"/>
                </a:solidFill>
              </a:rPr>
              <a:t>dict</a:t>
            </a:r>
            <a:r>
              <a:rPr lang="en-US" dirty="0"/>
              <a:t>, etc.)</a:t>
            </a:r>
          </a:p>
          <a:p>
            <a:pPr lvl="1"/>
            <a:r>
              <a:rPr lang="en-US" dirty="0"/>
              <a:t>OOP paradigm</a:t>
            </a:r>
          </a:p>
          <a:p>
            <a:pPr lvl="1"/>
            <a:r>
              <a:rPr lang="en-US" dirty="0"/>
              <a:t>Interpreted language</a:t>
            </a:r>
          </a:p>
          <a:p>
            <a:pPr lvl="1"/>
            <a:r>
              <a:rPr lang="en-US" dirty="0"/>
              <a:t>Vast libraries</a:t>
            </a:r>
          </a:p>
          <a:p>
            <a:pPr lvl="1"/>
            <a:r>
              <a:rPr lang="en-US" dirty="0"/>
              <a:t>Indexing elements in list, tuple and set is convenient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8CDDE-E511-4221-B7DC-E6C835BB2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4D57-D118-4850-AD10-B3DFED792017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39321-2379-4538-B69E-3B31F16FB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CHAO GAO, VAMK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17B1-C989-41EA-B9F0-2EE530A8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993-BDEA-4A98-891E-50A6DA8CA3A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62B06-2A13-EDD6-8CDE-E6BB5FDFCC86}"/>
              </a:ext>
            </a:extLst>
          </p:cNvPr>
          <p:cNvSpPr txBox="1"/>
          <p:nvPr/>
        </p:nvSpPr>
        <p:spPr>
          <a:xfrm>
            <a:off x="3666089" y="4567114"/>
            <a:ext cx="5015948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Britannic Bold" panose="020B0903060703020204" pitchFamily="34" charset="0"/>
                <a:ea typeface="Cambria Math" panose="02040503050406030204" pitchFamily="18" charset="0"/>
                <a:cs typeface="Consolas" panose="020B0609020204030204" pitchFamily="49" charset="0"/>
              </a:rPr>
              <a:t>Note</a:t>
            </a:r>
            <a:r>
              <a:rPr lang="en-GB" dirty="0">
                <a:solidFill>
                  <a:srgbClr val="7030A0"/>
                </a:solidFill>
                <a:latin typeface="Britannic Bold" panose="020B0903060703020204" pitchFamily="34" charset="0"/>
                <a:ea typeface="Cambria Math" panose="02040503050406030204" pitchFamily="18" charset="0"/>
                <a:cs typeface="Consolas" panose="020B0609020204030204" pitchFamily="49" charset="0"/>
              </a:rPr>
              <a:t>:</a:t>
            </a:r>
            <a:r>
              <a:rPr lang="en-GB" dirty="0">
                <a:solidFill>
                  <a:srgbClr val="00B0F0"/>
                </a:solidFill>
                <a:latin typeface="Britannic Bold" panose="020B0903060703020204" pitchFamily="34" charset="0"/>
                <a:ea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en-GB" dirty="0">
                <a:solidFill>
                  <a:srgbClr val="7030A0"/>
                </a:solidFill>
                <a:latin typeface="Bierstadt" panose="020B0004020202020204" pitchFamily="34" charset="0"/>
                <a:ea typeface="Cambria Math" panose="02040503050406030204" pitchFamily="18" charset="0"/>
                <a:cs typeface="Consolas" panose="020B0609020204030204" pitchFamily="49" charset="0"/>
              </a:rPr>
              <a:t>this is NOT a Python language course. Please study Python basics from online resources such as </a:t>
            </a:r>
            <a:r>
              <a:rPr lang="en-GB" dirty="0">
                <a:solidFill>
                  <a:srgbClr val="7030A0"/>
                </a:solidFill>
                <a:latin typeface="Bierstadt" panose="020B0004020202020204" pitchFamily="34" charset="0"/>
                <a:ea typeface="Cambria Math" panose="02040503050406030204" pitchFamily="18" charset="0"/>
                <a:cs typeface="Consolas" panose="020B0609020204030204" pitchFamily="49" charset="0"/>
                <a:hlinkClick r:id="rId2"/>
              </a:rPr>
              <a:t>https://www.w3schools.com/python/</a:t>
            </a:r>
            <a:r>
              <a:rPr lang="en-GB" dirty="0">
                <a:solidFill>
                  <a:srgbClr val="7030A0"/>
                </a:solidFill>
                <a:latin typeface="Bierstadt" panose="020B0004020202020204" pitchFamily="34" charset="0"/>
                <a:ea typeface="Cambria Math" panose="02040503050406030204" pitchFamily="18" charset="0"/>
                <a:cs typeface="Consolas" panose="020B0609020204030204" pitchFamily="49" charset="0"/>
              </a:rPr>
              <a:t>. </a:t>
            </a:r>
            <a:endParaRPr lang="en-FI" dirty="0">
              <a:solidFill>
                <a:srgbClr val="7030A0"/>
              </a:solidFill>
              <a:latin typeface="Bierstadt" panose="020B0004020202020204" pitchFamily="34" charset="0"/>
              <a:ea typeface="Cambria Math" panose="02040503050406030204" pitchFamily="18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696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EE533-C738-4ABB-8A90-72E5BAA69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Programming/Debugging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79774-FCFA-42E4-B0BD-BCA78472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a programming/debugging environment for Python.</a:t>
            </a:r>
          </a:p>
          <a:p>
            <a:r>
              <a:rPr lang="en-US" dirty="0"/>
              <a:t>The primitive way is Python Interpreter or Notepad++. But more convenient way is to use </a:t>
            </a:r>
            <a:r>
              <a:rPr lang="en-US" dirty="0">
                <a:solidFill>
                  <a:srgbClr val="00B0F0"/>
                </a:solidFill>
              </a:rPr>
              <a:t>VS Code or Visual Studio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link (</a:t>
            </a:r>
            <a:r>
              <a:rPr lang="en-US" dirty="0">
                <a:hlinkClick r:id="rId2"/>
              </a:rPr>
              <a:t>https://code.visualstudio.com/docs/python/python-tutorial</a:t>
            </a:r>
            <a:r>
              <a:rPr lang="en-US" dirty="0"/>
              <a:t>) shows how to use VS Code with Python.</a:t>
            </a:r>
          </a:p>
          <a:p>
            <a:pPr lvl="1"/>
            <a:r>
              <a:rPr lang="en-US" dirty="0"/>
              <a:t>This link (</a:t>
            </a:r>
            <a:r>
              <a:rPr lang="en-US" dirty="0">
                <a:hlinkClick r:id="rId3"/>
              </a:rPr>
              <a:t>https://learn.microsoft.com/en-us/visualstudio/python/?view=vs-2022</a:t>
            </a:r>
            <a:r>
              <a:rPr lang="en-US" dirty="0"/>
              <a:t>) shows how to use Visual Studio with Python.</a:t>
            </a:r>
          </a:p>
          <a:p>
            <a:pPr lvl="1"/>
            <a:r>
              <a:rPr lang="en-US" dirty="0"/>
              <a:t>Visual Studio is recommended.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02C03-0ADB-4463-96EE-A6F63F5FD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AD47B-1DEF-4AE7-9253-01D729E0EBD7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9BC99-EDA9-4E83-87D1-D2172A244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CHAO GAO, VAMK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EBF73-18EF-4094-9FDE-C80A07826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993-BDEA-4A98-891E-50A6DA8CA3A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62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F5FE-64DB-42EC-9960-EF2C56CDA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Structure 101: Use Correct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A1A8F-8634-4401-A133-A851190C6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 clear with the data to be handled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E.g., if you want to hold all the </a:t>
            </a:r>
            <a:r>
              <a:rPr lang="en-US" b="1" dirty="0"/>
              <a:t>prime factors </a:t>
            </a:r>
            <a:r>
              <a:rPr lang="en-US" dirty="0"/>
              <a:t>of a number, you need to use a </a:t>
            </a:r>
            <a:r>
              <a:rPr lang="en-US" b="1" dirty="0">
                <a:solidFill>
                  <a:srgbClr val="00B0F0"/>
                </a:solidFill>
              </a:rPr>
              <a:t>list</a:t>
            </a:r>
            <a:r>
              <a:rPr lang="en-US" dirty="0"/>
              <a:t>; but if you want to hold all the </a:t>
            </a:r>
            <a:r>
              <a:rPr lang="en-US" b="1" dirty="0"/>
              <a:t>distinct prime factors</a:t>
            </a:r>
            <a:r>
              <a:rPr lang="en-US" dirty="0"/>
              <a:t> of a number, you need a </a:t>
            </a:r>
            <a:r>
              <a:rPr lang="en-US" b="1" dirty="0">
                <a:solidFill>
                  <a:srgbClr val="00B0F0"/>
                </a:solidFill>
              </a:rPr>
              <a:t>set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As a dynamically-typed language, Python can use the same variable to hold different type of data.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feature has both advantages and disadvantages:</a:t>
            </a:r>
          </a:p>
          <a:p>
            <a:pPr lvl="1"/>
            <a:r>
              <a:rPr lang="en-US" dirty="0"/>
              <a:t>Pro: You can write code with more freedom and flexibility</a:t>
            </a:r>
          </a:p>
          <a:p>
            <a:pPr lvl="1"/>
            <a:r>
              <a:rPr lang="en-US" dirty="0"/>
              <a:t>Con: You may encounter a fatal error if you are not clear what the actual type of data is stored in a variable. (e.g., divided by a string)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67854-9358-46B6-9F85-B355F4A32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AD47B-1DEF-4AE7-9253-01D729E0EBD7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739D9-4415-44C2-9C8D-A5A8BEA7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CHAO GAO, VAMK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0A7E9-31D2-40D3-A997-03DCB7F4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993-BDEA-4A98-891E-50A6DA8CA3A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93A2C-922B-4831-AFB3-5AEC0C519DAC}"/>
              </a:ext>
            </a:extLst>
          </p:cNvPr>
          <p:cNvSpPr txBox="1"/>
          <p:nvPr/>
        </p:nvSpPr>
        <p:spPr>
          <a:xfrm flipH="1">
            <a:off x="1495424" y="3382663"/>
            <a:ext cx="5581650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A = 10.0 		# assign a floating-point number</a:t>
            </a:r>
          </a:p>
          <a:p>
            <a:pPr algn="l"/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A = 'This is no joke'	# assign a string </a:t>
            </a:r>
          </a:p>
          <a:p>
            <a:pPr algn="l"/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A = [None]*5	# making A as a list of 5 elements</a:t>
            </a:r>
          </a:p>
        </p:txBody>
      </p:sp>
    </p:spTree>
    <p:extLst>
      <p:ext uri="{BB962C8B-B14F-4D97-AF65-F5344CB8AC3E}">
        <p14:creationId xmlns:p14="http://schemas.microsoft.com/office/powerpoint/2010/main" val="273996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FE8C-C926-4F0A-BBFE-700163DD1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Operators and Operator Precedence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9CA1C-5A8F-4DFD-B9AA-C07464762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6 types of operators:</a:t>
            </a:r>
          </a:p>
          <a:p>
            <a:pPr lvl="1"/>
            <a:r>
              <a:rPr lang="en-US" dirty="0"/>
              <a:t>Logical operators: </a:t>
            </a:r>
            <a:r>
              <a:rPr lang="en-US" dirty="0">
                <a:solidFill>
                  <a:schemeClr val="accent5"/>
                </a:solidFill>
              </a:rPr>
              <a:t>and, or, not</a:t>
            </a:r>
          </a:p>
          <a:p>
            <a:pPr lvl="1"/>
            <a:r>
              <a:rPr lang="en-US" dirty="0"/>
              <a:t>Equality operators: </a:t>
            </a:r>
            <a:r>
              <a:rPr lang="en-US" dirty="0">
                <a:solidFill>
                  <a:schemeClr val="accent5"/>
                </a:solidFill>
              </a:rPr>
              <a:t>is, is not, ==, !=</a:t>
            </a:r>
          </a:p>
          <a:p>
            <a:pPr lvl="1"/>
            <a:r>
              <a:rPr lang="en-US" dirty="0"/>
              <a:t>Comparison operators: </a:t>
            </a:r>
            <a:r>
              <a:rPr lang="en-US" dirty="0">
                <a:solidFill>
                  <a:schemeClr val="accent5"/>
                </a:solidFill>
              </a:rPr>
              <a:t>&lt;, &lt;=, &gt;, &gt;=</a:t>
            </a:r>
          </a:p>
          <a:p>
            <a:pPr lvl="1"/>
            <a:r>
              <a:rPr lang="en-US" dirty="0"/>
              <a:t>Arithmetic operators: </a:t>
            </a:r>
            <a:r>
              <a:rPr lang="en-US" dirty="0">
                <a:solidFill>
                  <a:schemeClr val="accent5"/>
                </a:solidFill>
              </a:rPr>
              <a:t>+, -, *, /, //, %</a:t>
            </a:r>
          </a:p>
          <a:p>
            <a:pPr lvl="1"/>
            <a:r>
              <a:rPr lang="en-US" dirty="0"/>
              <a:t>Bitwise operators: </a:t>
            </a:r>
            <a:r>
              <a:rPr lang="en-US" dirty="0">
                <a:solidFill>
                  <a:schemeClr val="accent5"/>
                </a:solidFill>
              </a:rPr>
              <a:t>~, &amp;, |, ^, &lt;&lt;, &gt;&gt;</a:t>
            </a:r>
          </a:p>
          <a:p>
            <a:pPr lvl="1"/>
            <a:r>
              <a:rPr lang="en-US" dirty="0"/>
              <a:t>Sequence/indexing operators: 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s[j], s[</a:t>
            </a:r>
            <a:r>
              <a:rPr lang="en-US" dirty="0" err="1">
                <a:solidFill>
                  <a:schemeClr val="accent5"/>
                </a:solidFill>
                <a:latin typeface="+mn-lt"/>
              </a:rPr>
              <a:t>start:stop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], s[</a:t>
            </a:r>
            <a:r>
              <a:rPr lang="en-US" dirty="0" err="1">
                <a:solidFill>
                  <a:schemeClr val="accent5"/>
                </a:solidFill>
                <a:latin typeface="+mn-lt"/>
              </a:rPr>
              <a:t>start:stop:step</a:t>
            </a:r>
            <a:r>
              <a:rPr lang="en-US" dirty="0">
                <a:solidFill>
                  <a:schemeClr val="accent5"/>
                </a:solidFill>
                <a:latin typeface="+mn-lt"/>
              </a:rPr>
              <a:t>]</a:t>
            </a:r>
          </a:p>
          <a:p>
            <a:endParaRPr lang="en-US" dirty="0"/>
          </a:p>
          <a:p>
            <a:pPr lvl="1"/>
            <a:r>
              <a:rPr lang="en-US" dirty="0"/>
              <a:t>Please refer to </a:t>
            </a:r>
            <a:r>
              <a:rPr lang="en-US" dirty="0">
                <a:hlinkClick r:id="rId2"/>
              </a:rPr>
              <a:t>https://www.geeksforgeeks.org/precedence-and-associativity-of-operators-in-python/</a:t>
            </a:r>
            <a:r>
              <a:rPr lang="en-US" dirty="0"/>
              <a:t> for </a:t>
            </a:r>
            <a:r>
              <a:rPr lang="en-US" b="1" dirty="0">
                <a:solidFill>
                  <a:srgbClr val="C00000"/>
                </a:solidFill>
              </a:rPr>
              <a:t>Operator Precedence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D16BD-1164-4C9E-A359-995F806C1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3ACB9-63EC-41C8-BE35-468661003880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B650A-D026-4748-ABDE-A2C90293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CHAO GAO, VAMK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A10C5-C30A-4A4A-BB4B-166D1D8AB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993-BDEA-4A98-891E-50A6DA8CA3A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2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62194-AA40-A2D3-E002-7EFE8E2AC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List, Tuple, Set, Dictionary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981A7-F3C9-B342-CA76-C0E693682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4 Python data types able to a collection of data.</a:t>
            </a:r>
          </a:p>
          <a:p>
            <a:pPr lvl="1"/>
            <a:r>
              <a:rPr lang="en-GB" dirty="0"/>
              <a:t>A </a:t>
            </a:r>
            <a:r>
              <a:rPr lang="en-GB" dirty="0">
                <a:solidFill>
                  <a:srgbClr val="C00000"/>
                </a:solidFill>
              </a:rPr>
              <a:t>List</a:t>
            </a:r>
            <a:r>
              <a:rPr lang="en-GB" dirty="0"/>
              <a:t> is </a:t>
            </a:r>
            <a:r>
              <a:rPr lang="en-GB" dirty="0">
                <a:solidFill>
                  <a:srgbClr val="00B0F0"/>
                </a:solidFill>
              </a:rPr>
              <a:t>mutable</a:t>
            </a:r>
            <a:r>
              <a:rPr lang="en-GB" dirty="0"/>
              <a:t>, </a:t>
            </a:r>
            <a:r>
              <a:rPr lang="en-GB" dirty="0">
                <a:solidFill>
                  <a:srgbClr val="00B0F0"/>
                </a:solidFill>
              </a:rPr>
              <a:t>ordered</a:t>
            </a:r>
            <a:r>
              <a:rPr lang="en-GB" dirty="0"/>
              <a:t> array. </a:t>
            </a:r>
          </a:p>
          <a:p>
            <a:pPr lvl="2"/>
            <a:r>
              <a:rPr lang="en-GB" dirty="0"/>
              <a:t>You can use methods: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append, clear, copy, count, extend, index, insert, pop, remove, reverse, and sort </a:t>
            </a:r>
            <a:r>
              <a:rPr lang="en-GB" dirty="0"/>
              <a:t>a list.</a:t>
            </a:r>
          </a:p>
          <a:p>
            <a:pPr lvl="1"/>
            <a:r>
              <a:rPr lang="en-GB" dirty="0"/>
              <a:t>A </a:t>
            </a:r>
            <a:r>
              <a:rPr lang="en-GB" dirty="0">
                <a:solidFill>
                  <a:srgbClr val="C00000"/>
                </a:solidFill>
              </a:rPr>
              <a:t>Tuple</a:t>
            </a:r>
            <a:r>
              <a:rPr lang="en-GB" dirty="0"/>
              <a:t> is </a:t>
            </a:r>
            <a:r>
              <a:rPr lang="en-GB" dirty="0">
                <a:solidFill>
                  <a:srgbClr val="00B0F0"/>
                </a:solidFill>
              </a:rPr>
              <a:t>immutable</a:t>
            </a:r>
            <a:r>
              <a:rPr lang="en-GB" dirty="0"/>
              <a:t>, </a:t>
            </a:r>
            <a:r>
              <a:rPr lang="en-GB" dirty="0">
                <a:solidFill>
                  <a:srgbClr val="00B0F0"/>
                </a:solidFill>
              </a:rPr>
              <a:t>ordered</a:t>
            </a:r>
            <a:r>
              <a:rPr lang="en-GB" dirty="0"/>
              <a:t> array. </a:t>
            </a:r>
          </a:p>
          <a:p>
            <a:pPr lvl="2"/>
            <a:r>
              <a:rPr lang="en-GB" dirty="0"/>
              <a:t>You can only change a tuple by converting it to a list and convert back.</a:t>
            </a:r>
          </a:p>
          <a:p>
            <a:pPr lvl="2"/>
            <a:r>
              <a:rPr lang="en-GB" dirty="0"/>
              <a:t>You can only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count, index </a:t>
            </a:r>
            <a:r>
              <a:rPr lang="en-GB" dirty="0"/>
              <a:t>a tuple.</a:t>
            </a:r>
          </a:p>
          <a:p>
            <a:pPr lvl="1"/>
            <a:r>
              <a:rPr lang="en-GB" dirty="0"/>
              <a:t>A </a:t>
            </a:r>
            <a:r>
              <a:rPr lang="en-GB" dirty="0">
                <a:solidFill>
                  <a:srgbClr val="C00000"/>
                </a:solidFill>
              </a:rPr>
              <a:t>Set</a:t>
            </a:r>
            <a:r>
              <a:rPr lang="en-GB" dirty="0"/>
              <a:t> is an </a:t>
            </a:r>
            <a:r>
              <a:rPr lang="en-GB" dirty="0">
                <a:solidFill>
                  <a:srgbClr val="00B0F0"/>
                </a:solidFill>
              </a:rPr>
              <a:t>unordered</a:t>
            </a:r>
            <a:r>
              <a:rPr lang="en-GB" dirty="0"/>
              <a:t>, </a:t>
            </a:r>
            <a:r>
              <a:rPr lang="en-GB" dirty="0">
                <a:solidFill>
                  <a:srgbClr val="00B0F0"/>
                </a:solidFill>
              </a:rPr>
              <a:t>unsorted</a:t>
            </a:r>
            <a:r>
              <a:rPr lang="en-GB" dirty="0"/>
              <a:t>, </a:t>
            </a:r>
            <a:r>
              <a:rPr lang="en-GB" dirty="0">
                <a:solidFill>
                  <a:srgbClr val="00B0F0"/>
                </a:solidFill>
              </a:rPr>
              <a:t>immutable</a:t>
            </a:r>
            <a:r>
              <a:rPr lang="en-GB" dirty="0"/>
              <a:t>, and </a:t>
            </a:r>
            <a:r>
              <a:rPr lang="en-GB" dirty="0">
                <a:solidFill>
                  <a:srgbClr val="00B0F0"/>
                </a:solidFill>
              </a:rPr>
              <a:t>unindexed</a:t>
            </a:r>
            <a:r>
              <a:rPr lang="en-GB" dirty="0"/>
              <a:t> array.</a:t>
            </a:r>
          </a:p>
          <a:p>
            <a:pPr lvl="2"/>
            <a:r>
              <a:rPr lang="en-GB" dirty="0"/>
              <a:t>Each element is unique in a set.</a:t>
            </a:r>
          </a:p>
          <a:p>
            <a:pPr lvl="2"/>
            <a:r>
              <a:rPr lang="en-GB" dirty="0"/>
              <a:t>You can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add, clear, copy, discard, pop, remove</a:t>
            </a:r>
            <a:r>
              <a:rPr lang="en-GB" dirty="0"/>
              <a:t> elements of a set.</a:t>
            </a:r>
          </a:p>
          <a:p>
            <a:pPr lvl="2"/>
            <a:r>
              <a:rPr lang="en-GB" dirty="0"/>
              <a:t>You can get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difference, intersection, union, 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</a:rPr>
              <a:t>isdisjoint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</a:rPr>
              <a:t>issubset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</a:rPr>
              <a:t>issuperset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, update </a:t>
            </a:r>
            <a:r>
              <a:rPr lang="en-GB" dirty="0"/>
              <a:t>among multiple sets.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Dictionaries</a:t>
            </a:r>
            <a:r>
              <a:rPr lang="en-GB" dirty="0"/>
              <a:t> are used to store data values in </a:t>
            </a:r>
            <a:r>
              <a:rPr lang="en-GB" dirty="0" err="1">
                <a:solidFill>
                  <a:srgbClr val="00B0F0"/>
                </a:solidFill>
              </a:rPr>
              <a:t>key:value</a:t>
            </a:r>
            <a:r>
              <a:rPr lang="en-GB" dirty="0">
                <a:solidFill>
                  <a:srgbClr val="00B0F0"/>
                </a:solidFill>
              </a:rPr>
              <a:t> pairs</a:t>
            </a:r>
            <a:r>
              <a:rPr lang="en-GB" dirty="0"/>
              <a:t>. A dictionary is actually a </a:t>
            </a:r>
            <a:r>
              <a:rPr lang="en-GB" dirty="0">
                <a:solidFill>
                  <a:srgbClr val="00B0F0"/>
                </a:solidFill>
              </a:rPr>
              <a:t>map, unordered, mutable</a:t>
            </a:r>
            <a:r>
              <a:rPr lang="en-GB" dirty="0"/>
              <a:t>.</a:t>
            </a:r>
          </a:p>
          <a:p>
            <a:pPr lvl="2"/>
            <a:r>
              <a:rPr lang="en-GB" dirty="0"/>
              <a:t>You can use methods: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clear, copy, 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</a:rPr>
              <a:t>fromkeys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, get, items, keys, pop, 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</a:rPr>
              <a:t>popitem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</a:rPr>
              <a:t>setdefault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, update, values</a:t>
            </a:r>
            <a:endParaRPr lang="en-FI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B0DC6-78B8-842E-0085-0CB36DE5C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AD47B-1DEF-4AE7-9253-01D729E0EBD7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3FB0E-8715-BE3D-AC36-A5F7B5C2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CHAO GAO, VAMK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FD6D0-1D65-05A7-2254-ED43AF44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993-BDEA-4A98-891E-50A6DA8CA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14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FAA9-74BD-4105-AE5B-D1D8A66EE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Slicing and Indexing of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72B20-9FA9-450D-A314-0D2F948A8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offers </a:t>
            </a:r>
            <a:r>
              <a:rPr lang="en-US" dirty="0" err="1"/>
              <a:t>Matlab</a:t>
            </a:r>
            <a:r>
              <a:rPr lang="en-US" dirty="0"/>
              <a:t>-like indexing method for lists/tuples, making list indexing and slicing very convenient.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15C34-A210-4F27-81E4-9E470E956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AD47B-1DEF-4AE7-9253-01D729E0EBD7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15274-1FAC-42D9-BBD5-C5694AA4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CHAO GAO, VAMK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13D2B-C305-43C6-B69C-B97B870A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993-BDEA-4A98-891E-50A6DA8CA3A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19954-F8B7-4835-902A-54D9DB0EE12E}"/>
              </a:ext>
            </a:extLst>
          </p:cNvPr>
          <p:cNvSpPr txBox="1"/>
          <p:nvPr/>
        </p:nvSpPr>
        <p:spPr>
          <a:xfrm>
            <a:off x="740472" y="1845917"/>
            <a:ext cx="5121915" cy="304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a = [1,2,3,4,5,6,7,8,9]</a:t>
            </a:r>
          </a:p>
          <a:p>
            <a:pPr defTabSz="444500"/>
            <a:endParaRPr lang="en-US" sz="1600" dirty="0">
              <a:solidFill>
                <a:schemeClr val="bg2"/>
              </a:solidFill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b = a[2]		# 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b gets 3</a:t>
            </a: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c = a[1:4]		# 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c gets [2,3,4]</a:t>
            </a: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d = a[-1]		# 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d gets 9</a:t>
            </a: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e = a[2:7:2]	# 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e gets [3,5,7]</a:t>
            </a: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f = a[4:]		# 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f gets [5,6,7,8,9]</a:t>
            </a: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g = a[::2]		# 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g gets [1,3,5,7,9]</a:t>
            </a: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h = a[::2][:2]	# 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h gets [1,3]</a:t>
            </a: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k = a[::-1]		# 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k gets [9,8,7,6,5,4,3,2,1]</a:t>
            </a: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m = a[3:1:-1]	# 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m gets [4,3]</a:t>
            </a:r>
          </a:p>
          <a:p>
            <a:pPr defTabSz="444500"/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n = a[1:-3:2]	# 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n gets [2,4,6]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48C1DD9-952F-4ADD-BA4C-B26AF43C7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878236"/>
              </p:ext>
            </p:extLst>
          </p:nvPr>
        </p:nvGraphicFramePr>
        <p:xfrm>
          <a:off x="1562104" y="5116681"/>
          <a:ext cx="6095997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62800858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165783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3549443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026784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5019452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01272192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7670626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4812242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57075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386481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BA33D2C-1729-4189-AC32-4D54A9514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746036"/>
              </p:ext>
            </p:extLst>
          </p:nvPr>
        </p:nvGraphicFramePr>
        <p:xfrm>
          <a:off x="1562104" y="5562523"/>
          <a:ext cx="6095997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32712621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518926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2156515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4492061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239942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9823146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4540261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2075415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1891133"/>
                    </a:ext>
                  </a:extLst>
                </a:gridCol>
              </a:tblGrid>
              <a:tr h="22813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66408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27F0F69-EA9D-4B7F-BF75-7A966571E5D4}"/>
              </a:ext>
            </a:extLst>
          </p:cNvPr>
          <p:cNvSpPr txBox="1"/>
          <p:nvPr/>
        </p:nvSpPr>
        <p:spPr>
          <a:xfrm>
            <a:off x="111218" y="5568486"/>
            <a:ext cx="1492716" cy="2616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Forward indexing: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DA497DE-64D7-4E32-8582-EDBAC0114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751390"/>
              </p:ext>
            </p:extLst>
          </p:nvPr>
        </p:nvGraphicFramePr>
        <p:xfrm>
          <a:off x="1562103" y="5826040"/>
          <a:ext cx="6095997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327126216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518926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2156515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4492061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2399422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9823146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4540261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2075415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1891133"/>
                    </a:ext>
                  </a:extLst>
                </a:gridCol>
              </a:tblGrid>
              <a:tr h="22813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-9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-8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-7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-6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-4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66408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94717DD-A5DD-4FE9-8610-2F4EC2E0A8E3}"/>
              </a:ext>
            </a:extLst>
          </p:cNvPr>
          <p:cNvSpPr txBox="1"/>
          <p:nvPr/>
        </p:nvSpPr>
        <p:spPr>
          <a:xfrm>
            <a:off x="7539326" y="5836843"/>
            <a:ext cx="1492716" cy="2616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Backward indexing</a:t>
            </a:r>
          </a:p>
        </p:txBody>
      </p:sp>
    </p:spTree>
    <p:extLst>
      <p:ext uri="{BB962C8B-B14F-4D97-AF65-F5344CB8AC3E}">
        <p14:creationId xmlns:p14="http://schemas.microsoft.com/office/powerpoint/2010/main" val="371865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8369C-6772-4F62-AC07-51B9721D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Flow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A0656-2B1B-40BD-8FCB-73F570449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Basics branching (conditional) control: </a:t>
            </a:r>
            <a:r>
              <a:rPr lang="en-US" b="1" dirty="0">
                <a:solidFill>
                  <a:srgbClr val="00B0F0"/>
                </a:solidFill>
              </a:rPr>
              <a:t>if, </a:t>
            </a:r>
            <a:r>
              <a:rPr lang="en-US" b="1" dirty="0" err="1">
                <a:solidFill>
                  <a:srgbClr val="00B0F0"/>
                </a:solidFill>
              </a:rPr>
              <a:t>elif</a:t>
            </a:r>
            <a:r>
              <a:rPr lang="en-US" b="1" dirty="0">
                <a:solidFill>
                  <a:srgbClr val="00B0F0"/>
                </a:solidFill>
              </a:rPr>
              <a:t>, else</a:t>
            </a:r>
          </a:p>
          <a:p>
            <a:r>
              <a:rPr lang="en-US" dirty="0"/>
              <a:t>Loops (repetition): </a:t>
            </a:r>
            <a:r>
              <a:rPr lang="en-US" b="1" dirty="0">
                <a:solidFill>
                  <a:srgbClr val="00B0F0"/>
                </a:solidFill>
              </a:rPr>
              <a:t>while, for</a:t>
            </a:r>
          </a:p>
          <a:p>
            <a:pPr lvl="1"/>
            <a:r>
              <a:rPr lang="en-US" dirty="0">
                <a:solidFill>
                  <a:srgbClr val="C00000"/>
                </a:solidFill>
                <a:latin typeface="+mn-lt"/>
              </a:rPr>
              <a:t>break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continue</a:t>
            </a:r>
            <a:r>
              <a:rPr lang="en-US" dirty="0"/>
              <a:t> statements (for repetitions)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6163D-3722-4CA9-9438-7CECD89F64F6}"/>
              </a:ext>
            </a:extLst>
          </p:cNvPr>
          <p:cNvSpPr txBox="1"/>
          <p:nvPr/>
        </p:nvSpPr>
        <p:spPr>
          <a:xfrm>
            <a:off x="1233070" y="2674777"/>
            <a:ext cx="1980029" cy="2062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if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condition1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:</a:t>
            </a:r>
          </a:p>
          <a:p>
            <a:pPr>
              <a:tabLst>
                <a:tab pos="444500" algn="l"/>
              </a:tabLst>
            </a:pPr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	pass</a:t>
            </a:r>
          </a:p>
          <a:p>
            <a:pPr defTabSz="444500"/>
            <a:r>
              <a:rPr lang="en-US" sz="16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elif</a:t>
            </a:r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condition2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:</a:t>
            </a: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	pass</a:t>
            </a:r>
          </a:p>
          <a:p>
            <a:pPr defTabSz="444500"/>
            <a:r>
              <a:rPr lang="en-US" sz="16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elif</a:t>
            </a:r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condition3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:</a:t>
            </a: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	pass</a:t>
            </a: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:</a:t>
            </a: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	pass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3129C0-D914-4F6A-90BE-C5CBB2D492B0}"/>
              </a:ext>
            </a:extLst>
          </p:cNvPr>
          <p:cNvSpPr txBox="1"/>
          <p:nvPr/>
        </p:nvSpPr>
        <p:spPr>
          <a:xfrm>
            <a:off x="3808998" y="2674777"/>
            <a:ext cx="2877711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while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condition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:</a:t>
            </a: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	pass</a:t>
            </a:r>
          </a:p>
          <a:p>
            <a:pPr defTabSz="444500"/>
            <a:endParaRPr lang="en-US" sz="1600" dirty="0">
              <a:solidFill>
                <a:schemeClr val="bg2"/>
              </a:solidFill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for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in </a:t>
            </a:r>
            <a:r>
              <a:rPr lang="en-US" sz="1600" dirty="0" err="1">
                <a:solidFill>
                  <a:srgbClr val="00B05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iterable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:</a:t>
            </a:r>
          </a:p>
          <a:p>
            <a:pPr defTabSz="444500"/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	pass</a:t>
            </a:r>
          </a:p>
          <a:p>
            <a:endParaRPr lang="en-US" sz="1600" dirty="0">
              <a:solidFill>
                <a:schemeClr val="bg2"/>
              </a:solidFill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  <a:p>
            <a:endParaRPr lang="en-US" sz="1600" dirty="0">
              <a:solidFill>
                <a:schemeClr val="bg2"/>
              </a:solidFill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FD009F3-F2D5-45A4-8758-4D49CF743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AD442-9A79-432B-B904-10B35E852522}" type="datetime1">
              <a:rPr lang="en-US" smtClean="0"/>
              <a:t>10/3/2024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214CD0A-EFB7-4565-8E46-01885771E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CHAO GAO, VAMK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262104-E079-4BFA-828D-C1300144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993-BDEA-4A98-891E-50A6DA8CA3A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87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10E2-01D6-4A80-8A70-0AA36D0A8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F393E-23E4-4A56-A994-4DBB8C8C8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most cases (especially in dynamic programming), we need to write detailed logics in functions so that we can handle a complex algorithm and its related data structure.</a:t>
            </a:r>
          </a:p>
          <a:p>
            <a:r>
              <a:rPr lang="en-US" dirty="0"/>
              <a:t>A Python function is defined by "</a:t>
            </a:r>
            <a:r>
              <a:rPr lang="en-US" b="1" dirty="0">
                <a:solidFill>
                  <a:srgbClr val="C00000"/>
                </a:solidFill>
              </a:rPr>
              <a:t>def</a:t>
            </a:r>
            <a:r>
              <a:rPr lang="en-US" dirty="0"/>
              <a:t>" keyword. As an example, the following function returns the </a:t>
            </a:r>
            <a:r>
              <a:rPr lang="en-US" b="1" dirty="0"/>
              <a:t>standard deviation </a:t>
            </a:r>
            <a:r>
              <a:rPr lang="en-US" dirty="0"/>
              <a:t>of a set of numbers: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31D11-E1E3-46C7-AF7E-4E31D82969E1}"/>
              </a:ext>
            </a:extLst>
          </p:cNvPr>
          <p:cNvSpPr txBox="1"/>
          <p:nvPr/>
        </p:nvSpPr>
        <p:spPr>
          <a:xfrm>
            <a:off x="802812" y="3012921"/>
            <a:ext cx="5346335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math</a:t>
            </a:r>
          </a:p>
          <a:p>
            <a:endParaRPr lang="en-US" sz="1600" dirty="0">
              <a:solidFill>
                <a:schemeClr val="bg2"/>
              </a:solidFill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def</a:t>
            </a:r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stddev</a:t>
            </a:r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(data):</a:t>
            </a:r>
          </a:p>
          <a:p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n = </a:t>
            </a:r>
            <a:r>
              <a:rPr lang="en-US" sz="16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len</a:t>
            </a:r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(data)</a:t>
            </a:r>
          </a:p>
          <a:p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mean = sum(data)/n</a:t>
            </a:r>
          </a:p>
          <a:p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deviations = [(x - mean)**2 for x in data]</a:t>
            </a:r>
          </a:p>
          <a:p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math.sqrt</a:t>
            </a:r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(sum(deviations)/(n-1))</a:t>
            </a:r>
          </a:p>
          <a:p>
            <a:endParaRPr lang="en-US" sz="1600" dirty="0">
              <a:solidFill>
                <a:schemeClr val="bg2"/>
              </a:solidFill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d = [1,2,3,4,5]</a:t>
            </a:r>
          </a:p>
          <a:p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print("Std of %s is %.3f"%(d, </a:t>
            </a:r>
            <a:r>
              <a:rPr lang="en-US" sz="16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stddev</a:t>
            </a:r>
            <a:r>
              <a:rPr lang="en-US" sz="16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(d)))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43A2E-FA37-4D3E-9E6C-09C427BA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BE6C8-6AF0-4440-B807-2140EBA63FCC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AC5C2-BEF5-4DF8-83F5-431F80E8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CHAO GAO, VAMK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4330E-E257-45D8-88E4-37DD0CA6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993-BDEA-4A98-891E-50A6DA8CA3A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87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26C72-3D3B-4D88-9547-9D8EE2A68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Built-in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73A3F-BC56-4981-82AB-94F865EFB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63" y="1143000"/>
            <a:ext cx="8220075" cy="5125658"/>
          </a:xfrm>
        </p:spPr>
        <p:txBody>
          <a:bodyPr/>
          <a:lstStyle/>
          <a:p>
            <a:r>
              <a:rPr lang="en-US" dirty="0"/>
              <a:t>Input/Output: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print, input, open </a:t>
            </a:r>
          </a:p>
          <a:p>
            <a:r>
              <a:rPr lang="en-US" dirty="0"/>
              <a:t>Character encoding: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ord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chr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 </a:t>
            </a:r>
          </a:p>
          <a:p>
            <a:r>
              <a:rPr lang="en-US" dirty="0"/>
              <a:t>Math: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abs,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divmod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, pow, round, sum </a:t>
            </a:r>
          </a:p>
          <a:p>
            <a:r>
              <a:rPr lang="en-US" dirty="0"/>
              <a:t>Ordering: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max, min, sorted </a:t>
            </a:r>
          </a:p>
          <a:p>
            <a:r>
              <a:rPr lang="en-US" dirty="0"/>
              <a:t>Collections/iterations: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range,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len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, reversed, all, any, map,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iter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  <a:cs typeface="Courier New" panose="02070309020205020404" pitchFamily="49" charset="0"/>
              </a:rPr>
              <a:t>, next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Please refer to </a:t>
            </a:r>
            <a:r>
              <a:rPr lang="en-US" dirty="0">
                <a:cs typeface="Courier New" panose="02070309020205020404" pitchFamily="49" charset="0"/>
                <a:hlinkClick r:id="rId2"/>
              </a:rPr>
              <a:t>https://docs.python.org/3/library/functions.html</a:t>
            </a:r>
            <a:r>
              <a:rPr lang="en-US" dirty="0"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51363-4A44-4F31-9DAF-89F0ECB9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AD47B-1DEF-4AE7-9253-01D729E0EBD7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F7307-B7E6-414A-962B-78CF8131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CHAO GAO, VAMK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698EA-7877-4715-8B8C-31E1564C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993-BDEA-4A98-891E-50A6DA8CA3A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0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E1B33-F138-4A6D-8B57-2322EF641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File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8DEE8-0817-4F0E-9208-22DE42EFB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like other languages, Python uses open(), close() to open/create and close a file.</a:t>
            </a:r>
          </a:p>
          <a:p>
            <a:pPr lvl="1"/>
            <a:r>
              <a:rPr lang="en-US" dirty="0"/>
              <a:t>A file can be opened in 'w/r/a/x/t/b' modes. E.g.,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open('samples.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dat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','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wb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')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will create a new file 'samples.dat' in </a:t>
            </a:r>
            <a:r>
              <a:rPr lang="en-US" b="1" dirty="0"/>
              <a:t>binary write-only </a:t>
            </a:r>
            <a:r>
              <a:rPr lang="en-US" dirty="0"/>
              <a:t>mode, if no such a file exists in the current folder; otherwise, it will open this file (and </a:t>
            </a:r>
            <a:r>
              <a:rPr lang="en-US" b="1" dirty="0"/>
              <a:t>erase existing content</a:t>
            </a:r>
            <a:r>
              <a:rPr lang="en-US" dirty="0"/>
              <a:t>) in write-only binary mode.</a:t>
            </a:r>
          </a:p>
          <a:p>
            <a:r>
              <a:rPr lang="en-US" dirty="0"/>
              <a:t>Functions used with an opened file could be: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B701C-A480-4B3A-A3D7-988709B55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AD47B-1DEF-4AE7-9253-01D729E0EBD7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BBBC3-2930-4679-A936-1941231CC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CHAO GAO, VAMK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8A56C-D2B1-4594-8314-D0F1D2CA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993-BDEA-4A98-891E-50A6DA8CA3A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B598A4-9C9E-47E4-9954-AD1FFF692F1D}"/>
              </a:ext>
            </a:extLst>
          </p:cNvPr>
          <p:cNvSpPr txBox="1"/>
          <p:nvPr/>
        </p:nvSpPr>
        <p:spPr>
          <a:xfrm>
            <a:off x="736270" y="3296672"/>
            <a:ext cx="7671459" cy="304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</a:rPr>
              <a:t>Calling Syntax 	Description</a:t>
            </a:r>
          </a:p>
          <a:p>
            <a:r>
              <a:rPr lang="en-US" sz="1600" dirty="0" err="1">
                <a:solidFill>
                  <a:schemeClr val="bg2"/>
                </a:solidFill>
              </a:rPr>
              <a:t>fp.read</a:t>
            </a:r>
            <a:r>
              <a:rPr lang="en-US" sz="1600" dirty="0">
                <a:solidFill>
                  <a:schemeClr val="bg2"/>
                </a:solidFill>
              </a:rPr>
              <a:t>(k) 		Return the next </a:t>
            </a:r>
            <a:r>
              <a:rPr lang="en-US" sz="1600" i="1" dirty="0">
                <a:solidFill>
                  <a:schemeClr val="bg2"/>
                </a:solidFill>
              </a:rPr>
              <a:t>k </a:t>
            </a:r>
            <a:r>
              <a:rPr lang="en-US" sz="1600" dirty="0">
                <a:solidFill>
                  <a:schemeClr val="bg2"/>
                </a:solidFill>
              </a:rPr>
              <a:t>bytes of a readable file as a string.</a:t>
            </a:r>
          </a:p>
          <a:p>
            <a:r>
              <a:rPr lang="en-US" sz="1600" dirty="0" err="1">
                <a:solidFill>
                  <a:schemeClr val="bg2"/>
                </a:solidFill>
              </a:rPr>
              <a:t>fp.readline</a:t>
            </a:r>
            <a:r>
              <a:rPr lang="en-US" sz="1600" dirty="0">
                <a:solidFill>
                  <a:schemeClr val="bg2"/>
                </a:solidFill>
              </a:rPr>
              <a:t>( ) 	Return (remainder of ) the current line of a readable file as a string.</a:t>
            </a:r>
          </a:p>
          <a:p>
            <a:r>
              <a:rPr lang="en-US" sz="1600" dirty="0" err="1">
                <a:solidFill>
                  <a:schemeClr val="bg2"/>
                </a:solidFill>
              </a:rPr>
              <a:t>fp.readlines</a:t>
            </a:r>
            <a:r>
              <a:rPr lang="en-US" sz="1600" dirty="0">
                <a:solidFill>
                  <a:schemeClr val="bg2"/>
                </a:solidFill>
              </a:rPr>
              <a:t>( ) 	Return all (remaining) lines of a readable file as a list of strings.</a:t>
            </a:r>
          </a:p>
          <a:p>
            <a:r>
              <a:rPr lang="en-US" sz="1600" dirty="0">
                <a:solidFill>
                  <a:schemeClr val="bg2"/>
                </a:solidFill>
              </a:rPr>
              <a:t>for line in </a:t>
            </a:r>
            <a:r>
              <a:rPr lang="en-US" sz="1600" dirty="0" err="1">
                <a:solidFill>
                  <a:schemeClr val="bg2"/>
                </a:solidFill>
              </a:rPr>
              <a:t>fp</a:t>
            </a:r>
            <a:r>
              <a:rPr lang="en-US" sz="1600" dirty="0">
                <a:solidFill>
                  <a:schemeClr val="bg2"/>
                </a:solidFill>
              </a:rPr>
              <a:t>: 	Iterate all (remaining) lines of a readable file.</a:t>
            </a:r>
          </a:p>
          <a:p>
            <a:r>
              <a:rPr lang="en-US" sz="1600" dirty="0" err="1">
                <a:solidFill>
                  <a:schemeClr val="bg2"/>
                </a:solidFill>
              </a:rPr>
              <a:t>fp.seek</a:t>
            </a:r>
            <a:r>
              <a:rPr lang="en-US" sz="1600" dirty="0">
                <a:solidFill>
                  <a:schemeClr val="bg2"/>
                </a:solidFill>
              </a:rPr>
              <a:t>(k) 		Change the current position to be at the </a:t>
            </a:r>
            <a:r>
              <a:rPr lang="en-US" sz="1600" i="1" dirty="0">
                <a:solidFill>
                  <a:schemeClr val="bg2"/>
                </a:solidFill>
              </a:rPr>
              <a:t>kth </a:t>
            </a:r>
            <a:r>
              <a:rPr lang="en-US" sz="1600" dirty="0">
                <a:solidFill>
                  <a:schemeClr val="bg2"/>
                </a:solidFill>
              </a:rPr>
              <a:t>byte of the file.</a:t>
            </a:r>
          </a:p>
          <a:p>
            <a:r>
              <a:rPr lang="en-US" sz="1600" dirty="0" err="1">
                <a:solidFill>
                  <a:schemeClr val="bg2"/>
                </a:solidFill>
              </a:rPr>
              <a:t>fp.tell</a:t>
            </a:r>
            <a:r>
              <a:rPr lang="en-US" sz="1600" dirty="0">
                <a:solidFill>
                  <a:schemeClr val="bg2"/>
                </a:solidFill>
              </a:rPr>
              <a:t>( ) 		Return the current position, measured as byte-offset from the start.</a:t>
            </a:r>
          </a:p>
          <a:p>
            <a:r>
              <a:rPr lang="en-US" sz="1600" dirty="0" err="1">
                <a:solidFill>
                  <a:schemeClr val="bg2"/>
                </a:solidFill>
              </a:rPr>
              <a:t>fp.write</a:t>
            </a:r>
            <a:r>
              <a:rPr lang="en-US" sz="1600" dirty="0">
                <a:solidFill>
                  <a:schemeClr val="bg2"/>
                </a:solidFill>
              </a:rPr>
              <a:t>(string) 	Write given string at current position of the writable file.</a:t>
            </a:r>
          </a:p>
          <a:p>
            <a:r>
              <a:rPr lang="en-US" sz="1600" dirty="0" err="1">
                <a:solidFill>
                  <a:schemeClr val="bg2"/>
                </a:solidFill>
              </a:rPr>
              <a:t>fp.writelines</a:t>
            </a:r>
            <a:r>
              <a:rPr lang="en-US" sz="1600" dirty="0">
                <a:solidFill>
                  <a:schemeClr val="bg2"/>
                </a:solidFill>
              </a:rPr>
              <a:t>(seq)	Write each of the strings of the given sequence at the current</a:t>
            </a:r>
          </a:p>
          <a:p>
            <a:r>
              <a:rPr lang="en-US" sz="1600" dirty="0">
                <a:solidFill>
                  <a:schemeClr val="bg2"/>
                </a:solidFill>
              </a:rPr>
              <a:t>		position of the writable file. This command does </a:t>
            </a:r>
            <a:r>
              <a:rPr lang="en-US" sz="1600" i="1" dirty="0">
                <a:solidFill>
                  <a:schemeClr val="bg2"/>
                </a:solidFill>
              </a:rPr>
              <a:t>not </a:t>
            </a:r>
            <a:r>
              <a:rPr lang="en-US" sz="1600" dirty="0">
                <a:solidFill>
                  <a:schemeClr val="bg2"/>
                </a:solidFill>
              </a:rPr>
              <a:t>insert</a:t>
            </a:r>
          </a:p>
          <a:p>
            <a:r>
              <a:rPr lang="en-US" sz="1600" dirty="0">
                <a:solidFill>
                  <a:schemeClr val="bg2"/>
                </a:solidFill>
              </a:rPr>
              <a:t>		any newlines, beyond those that are embedded in the strings.</a:t>
            </a:r>
          </a:p>
          <a:p>
            <a:r>
              <a:rPr lang="en-US" sz="1600" dirty="0">
                <a:solidFill>
                  <a:schemeClr val="bg2"/>
                </a:solidFill>
              </a:rPr>
              <a:t>print(..., file=</a:t>
            </a:r>
            <a:r>
              <a:rPr lang="en-US" sz="1600" dirty="0" err="1">
                <a:solidFill>
                  <a:schemeClr val="bg2"/>
                </a:solidFill>
              </a:rPr>
              <a:t>fp</a:t>
            </a:r>
            <a:r>
              <a:rPr lang="en-US" sz="1600" dirty="0">
                <a:solidFill>
                  <a:schemeClr val="bg2"/>
                </a:solidFill>
              </a:rPr>
              <a:t>) 	Redirect output of print function to the file.</a:t>
            </a:r>
            <a:endParaRPr lang="en-US" sz="1100" dirty="0">
              <a:solidFill>
                <a:schemeClr val="bg2"/>
              </a:solidFill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925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BD6A-FF2A-431E-898E-1A63F606D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Examples: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Finding all the primes below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81B140-2E68-48C6-8F04-408446C8F5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Two algorithms: </a:t>
                </a:r>
                <a:r>
                  <a:rPr lang="en-US" dirty="0">
                    <a:solidFill>
                      <a:srgbClr val="C00000"/>
                    </a:solidFill>
                  </a:rPr>
                  <a:t>Brute force </a:t>
                </a:r>
                <a:r>
                  <a:rPr lang="en-US" dirty="0"/>
                  <a:t>and </a:t>
                </a:r>
                <a:r>
                  <a:rPr lang="en-US" dirty="0">
                    <a:solidFill>
                      <a:srgbClr val="C00000"/>
                    </a:solidFill>
                  </a:rPr>
                  <a:t>Eratosthenes sieve</a:t>
                </a:r>
              </a:p>
              <a:p>
                <a:pPr lvl="1"/>
                <a:r>
                  <a:rPr lang="en-US" dirty="0"/>
                  <a:t>Brute force:</a:t>
                </a:r>
              </a:p>
              <a:p>
                <a:pPr lvl="2"/>
                <a:r>
                  <a:rPr lang="en-US" dirty="0"/>
                  <a:t>Set </a:t>
                </a:r>
                <a:r>
                  <a:rPr lang="en-US" dirty="0" err="1"/>
                  <a:t>prime_list</a:t>
                </a:r>
                <a:r>
                  <a:rPr lang="en-US" dirty="0"/>
                  <a:t> = [ ]</a:t>
                </a:r>
              </a:p>
              <a:p>
                <a:pPr lvl="2"/>
                <a:r>
                  <a:rPr lang="en-US" dirty="0"/>
                  <a:t>For each integer </a:t>
                </a:r>
                <a:r>
                  <a:rPr lang="en-US" dirty="0" err="1"/>
                  <a:t>i</a:t>
                </a:r>
                <a:r>
                  <a:rPr lang="en-US" dirty="0"/>
                  <a:t> between 2 to N:</a:t>
                </a:r>
              </a:p>
              <a:p>
                <a:pPr lvl="3"/>
                <a:r>
                  <a:rPr lang="en-US" dirty="0"/>
                  <a:t>Let s = floor(sqrt(</a:t>
                </a:r>
                <a:r>
                  <a:rPr lang="en-US" dirty="0" err="1"/>
                  <a:t>i</a:t>
                </a:r>
                <a:r>
                  <a:rPr lang="en-US" dirty="0"/>
                  <a:t>))</a:t>
                </a:r>
              </a:p>
              <a:p>
                <a:pPr lvl="3"/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continue</a:t>
                </a:r>
              </a:p>
              <a:p>
                <a:pPr lvl="3"/>
                <a:r>
                  <a:rPr lang="en-US" dirty="0"/>
                  <a:t>Flag = TRUE</a:t>
                </a:r>
              </a:p>
              <a:p>
                <a:pPr lvl="3"/>
                <a:r>
                  <a:rPr lang="en-US" dirty="0"/>
                  <a:t>For k from 2 to s:</a:t>
                </a:r>
              </a:p>
              <a:p>
                <a:pPr lvl="4"/>
                <a:r>
                  <a:rPr lang="en-US" dirty="0"/>
                  <a:t>If s is divisible by k:</a:t>
                </a:r>
              </a:p>
              <a:p>
                <a:pPr lvl="5"/>
                <a:r>
                  <a:rPr lang="en-US" dirty="0">
                    <a:solidFill>
                      <a:srgbClr val="FF0000"/>
                    </a:solidFill>
                  </a:rPr>
                  <a:t>Flag = FALSE and break</a:t>
                </a:r>
              </a:p>
              <a:p>
                <a:pPr lvl="3"/>
                <a:r>
                  <a:rPr lang="en-US" dirty="0"/>
                  <a:t>If flag == TRUE</a:t>
                </a:r>
              </a:p>
              <a:p>
                <a:pPr lvl="4"/>
                <a:r>
                  <a:rPr lang="en-US" dirty="0"/>
                  <a:t>Add </a:t>
                </a:r>
                <a:r>
                  <a:rPr lang="en-US" dirty="0" err="1"/>
                  <a:t>i</a:t>
                </a:r>
                <a:r>
                  <a:rPr lang="en-US" dirty="0"/>
                  <a:t> to the </a:t>
                </a:r>
                <a:r>
                  <a:rPr lang="en-US" dirty="0" err="1"/>
                  <a:t>prime_list</a:t>
                </a:r>
                <a:endParaRPr lang="en-US" dirty="0"/>
              </a:p>
              <a:p>
                <a:pPr lvl="2"/>
                <a:r>
                  <a:rPr lang="en-US" dirty="0"/>
                  <a:t>Print </a:t>
                </a:r>
                <a:r>
                  <a:rPr lang="en-US" dirty="0" err="1"/>
                  <a:t>prime_list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81B140-2E68-48C6-8F04-408446C8F5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8" t="-1310"/>
                </a:stretch>
              </a:blipFill>
            </p:spPr>
            <p:txBody>
              <a:bodyPr/>
              <a:lstStyle/>
              <a:p>
                <a:r>
                  <a:rPr lang="en-F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CD7659C-4CE4-4A49-A25A-7088B02782B3}"/>
              </a:ext>
            </a:extLst>
          </p:cNvPr>
          <p:cNvSpPr txBox="1"/>
          <p:nvPr/>
        </p:nvSpPr>
        <p:spPr>
          <a:xfrm>
            <a:off x="4840832" y="1828392"/>
            <a:ext cx="3841205" cy="37548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import math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N = 100</a:t>
            </a:r>
          </a:p>
          <a:p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prime_list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= []</a:t>
            </a:r>
          </a:p>
          <a:p>
            <a:endParaRPr lang="en-US" sz="1400" dirty="0">
              <a:solidFill>
                <a:schemeClr val="bg2"/>
              </a:solidFill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for k in range(2,N):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s =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math.floor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math.sqrt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(k))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if s*s == k: 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continue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flag = True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for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in range(2,s+1):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if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k%i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== 0: 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    flag = False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    break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if flag == True: 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prime_list.append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(k)</a:t>
            </a:r>
          </a:p>
          <a:p>
            <a:endParaRPr lang="en-US" sz="1400" dirty="0">
              <a:solidFill>
                <a:schemeClr val="bg2"/>
              </a:solidFill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print(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prime_list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print(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len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prime_list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AE13D-59CA-4991-9393-53515C4F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77D98-56FF-4E60-B033-390E9B7FD51F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74358-1E2E-4C6D-94E9-8F55C21B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CHAO GAO, VAMK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3C983-2001-4D6D-9D2E-8799F8ED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993-BDEA-4A98-891E-50A6DA8CA3A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45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D9583-DCED-431B-96F5-15C2562D8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Examples: Finding all the primes below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FBFF36-1D7F-48EB-8A93-8E68FE0570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Eratosthenes sieve:</a:t>
                </a:r>
              </a:p>
              <a:p>
                <a:pPr lvl="1"/>
                <a:r>
                  <a:rPr lang="en-US" dirty="0"/>
                  <a:t>Set </a:t>
                </a:r>
                <a:r>
                  <a:rPr lang="en-US" dirty="0" err="1"/>
                  <a:t>eratos</a:t>
                </a:r>
                <a:r>
                  <a:rPr lang="en-US" dirty="0"/>
                  <a:t> = [True]*(N+1)</a:t>
                </a:r>
              </a:p>
              <a:p>
                <a:pPr lvl="1"/>
                <a:r>
                  <a:rPr lang="en-US" dirty="0"/>
                  <a:t>Set d = 2</a:t>
                </a:r>
              </a:p>
              <a:p>
                <a:pPr lvl="1"/>
                <a:r>
                  <a:rPr lang="en-US" dirty="0"/>
                  <a:t>While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i-FI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i-FI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fi-FI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i-FI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fi-FI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i-FI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:r>
                  <a:rPr lang="en-US" dirty="0"/>
                  <a:t>If </a:t>
                </a:r>
                <a:r>
                  <a:rPr lang="en-US" dirty="0" err="1"/>
                  <a:t>eratos</a:t>
                </a:r>
                <a:r>
                  <a:rPr lang="en-US" dirty="0"/>
                  <a:t>[d] is True:</a:t>
                </a:r>
              </a:p>
              <a:p>
                <a:pPr lvl="3"/>
                <a:r>
                  <a:rPr lang="en-US" dirty="0"/>
                  <a:t>For every </a:t>
                </a:r>
                <a:r>
                  <a:rPr lang="en-US" dirty="0" err="1"/>
                  <a:t>i</a:t>
                </a:r>
                <a:r>
                  <a:rPr lang="en-US" dirty="0"/>
                  <a:t> in 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i-FI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i-FI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fi-FI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i-FI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i-FI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i-FI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] , </a:t>
                </a:r>
                <a:r>
                  <a:rPr lang="en-US" dirty="0" err="1"/>
                  <a:t>i</a:t>
                </a:r>
                <a:r>
                  <a:rPr lang="en-US" dirty="0"/>
                  <a:t>+=d</a:t>
                </a:r>
              </a:p>
              <a:p>
                <a:pPr lvl="3"/>
                <a:r>
                  <a:rPr lang="en-US" dirty="0"/>
                  <a:t>Set </a:t>
                </a:r>
                <a:r>
                  <a:rPr lang="en-US" dirty="0" err="1"/>
                  <a:t>eratos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 = False</a:t>
                </a:r>
              </a:p>
              <a:p>
                <a:pPr lvl="2"/>
                <a:r>
                  <a:rPr lang="en-US" dirty="0"/>
                  <a:t>d = d+1</a:t>
                </a:r>
              </a:p>
              <a:p>
                <a:pPr lvl="1"/>
                <a:r>
                  <a:rPr lang="en-US" dirty="0" err="1"/>
                  <a:t>prime_list</a:t>
                </a:r>
                <a:r>
                  <a:rPr lang="en-US" dirty="0"/>
                  <a:t> = []</a:t>
                </a:r>
              </a:p>
              <a:p>
                <a:pPr lvl="1"/>
                <a:r>
                  <a:rPr lang="en-US" dirty="0"/>
                  <a:t>for k in range(2, N+1):</a:t>
                </a:r>
              </a:p>
              <a:p>
                <a:pPr lvl="2"/>
                <a:r>
                  <a:rPr lang="en-US" dirty="0"/>
                  <a:t>If </a:t>
                </a:r>
                <a:r>
                  <a:rPr lang="en-US" dirty="0" err="1"/>
                  <a:t>eratos</a:t>
                </a:r>
                <a:r>
                  <a:rPr lang="en-US" dirty="0"/>
                  <a:t>[k]==True: </a:t>
                </a:r>
                <a:r>
                  <a:rPr lang="en-US" dirty="0" err="1"/>
                  <a:t>prime_list.append</a:t>
                </a:r>
                <a:r>
                  <a:rPr lang="en-US" dirty="0"/>
                  <a:t>(k)</a:t>
                </a:r>
              </a:p>
              <a:p>
                <a:pPr lvl="1"/>
                <a:r>
                  <a:rPr lang="en-US" dirty="0"/>
                  <a:t>Print(</a:t>
                </a:r>
                <a:r>
                  <a:rPr lang="en-US" dirty="0" err="1"/>
                  <a:t>prime_list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FBFF36-1D7F-48EB-8A93-8E68FE0570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8" t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0EC700C-1FFA-47B3-A4CF-D827AD605493}"/>
              </a:ext>
            </a:extLst>
          </p:cNvPr>
          <p:cNvSpPr txBox="1"/>
          <p:nvPr/>
        </p:nvSpPr>
        <p:spPr>
          <a:xfrm>
            <a:off x="4873262" y="2026280"/>
            <a:ext cx="4001477" cy="3539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N = 100</a:t>
            </a:r>
          </a:p>
          <a:p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eratos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= [True]*(N+1)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d = 2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while d*d &lt;= N+1: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if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eratos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[d] == True: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for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in range(d*d, N+1, d):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eratos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] = False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d = d+1</a:t>
            </a:r>
          </a:p>
          <a:p>
            <a:endParaRPr lang="en-US" sz="1400" dirty="0">
              <a:solidFill>
                <a:schemeClr val="bg2"/>
              </a:solidFill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  <a:p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prime_list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= []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for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in range(2, N+1):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if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eratos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]: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prime_list.append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)</a:t>
            </a:r>
          </a:p>
          <a:p>
            <a:endParaRPr lang="en-US" sz="1400" dirty="0">
              <a:solidFill>
                <a:schemeClr val="bg2"/>
              </a:solidFill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print(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prime_list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print(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len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prime_list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DF849-3B75-4F34-90C1-ABF72B71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8C2B8-985C-4FCF-AF0F-3E19C66BC37B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72DC7-E2BC-47CD-958C-BE0EA14E6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CHAO GAO, VAMK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69FE7-65A7-43FC-82EA-64E53D12B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993-BDEA-4A98-891E-50A6DA8CA3A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41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3F43-032B-4F7B-9F4F-E92FF3F80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Algorithm </a:t>
            </a:r>
            <a:r>
              <a:rPr lang="en-US" dirty="0"/>
              <a:t>Efficiency: Execution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C919C-5B23-4B13-AABB-502C418790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 problem can be solved by different algorithms. To determine which is the best, it's necessary to inspect the efficiency of an algorithm. </a:t>
                </a:r>
              </a:p>
              <a:p>
                <a:r>
                  <a:rPr lang="en-US" dirty="0"/>
                  <a:t>In most cases efficiency means the execution time (other metrices are also used and will be discussed later in this course)</a:t>
                </a:r>
              </a:p>
              <a:p>
                <a:r>
                  <a:rPr lang="en-US" dirty="0"/>
                  <a:t>This article talks about "time" (</a:t>
                </a:r>
                <a:r>
                  <a:rPr lang="en-US" b="1" dirty="0"/>
                  <a:t>Wall time </a:t>
                </a:r>
                <a:r>
                  <a:rPr lang="en-US" dirty="0"/>
                  <a:t>and </a:t>
                </a:r>
                <a:r>
                  <a:rPr lang="en-US" b="1" dirty="0"/>
                  <a:t>CPU time</a:t>
                </a:r>
                <a:r>
                  <a:rPr lang="en-US" dirty="0"/>
                  <a:t>): </a:t>
                </a:r>
                <a:r>
                  <a:rPr lang="en-US" dirty="0">
                    <a:hlinkClick r:id="rId2"/>
                  </a:rPr>
                  <a:t>https://pynative.com/python-get-execution-time-of-program/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Task: find the wall time of the two prime algorithms for N=1000, and N=10000000 respectively</a:t>
                </a:r>
              </a:p>
              <a:p>
                <a:pPr lvl="1"/>
                <a:r>
                  <a:rPr lang="en-US" dirty="0"/>
                  <a:t>N = 1000,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i-FI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i-FI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i-FI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= _____________________,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i-FI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i-FI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i-FI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/>
                  <a:t> = ________________________</a:t>
                </a:r>
              </a:p>
              <a:p>
                <a:pPr lvl="1"/>
                <a:r>
                  <a:rPr lang="en-US" dirty="0"/>
                  <a:t>N = 10000000,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i-FI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i-FI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i-FI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= _____________________,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i-FI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i-FI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i-FI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/>
                  <a:t> = ________________________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Conclusion: ____________________________________________________________________________________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C919C-5B23-4B13-AABB-502C418790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8" t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AA3E-B8EF-4FBB-8C4D-3694BAFB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9412-C3D5-4B3F-9211-96F223153F9D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D2BD8-2531-4FBB-BCAF-0DD4DF6D5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CHAO GAO, VAMK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32DF0-2D28-495A-981C-9F3C11F97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993-BDEA-4A98-891E-50A6DA8CA3A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73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3B55-60DB-467E-ACCE-1801ABC2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Homework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D3B6D-3C45-4B2F-AE1A-96BD170E7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an empty list, and add (append) numbers 1,3,5,…,19 to the list.</a:t>
            </a:r>
          </a:p>
          <a:p>
            <a:r>
              <a:rPr lang="en-US" dirty="0"/>
              <a:t>Create an empty set, and add strings "one", "two", "three", "four", "five" to it. If you then use pop() function, which one will be removed?</a:t>
            </a:r>
          </a:p>
          <a:p>
            <a:endParaRPr lang="en-US" dirty="0"/>
          </a:p>
          <a:p>
            <a:r>
              <a:rPr lang="en-US" dirty="0"/>
              <a:t>Write a Python function </a:t>
            </a:r>
            <a:r>
              <a:rPr lang="en-US" dirty="0" err="1">
                <a:latin typeface="+mn-lt"/>
              </a:rPr>
              <a:t>primeFactors</a:t>
            </a:r>
            <a:r>
              <a:rPr lang="en-US" dirty="0">
                <a:latin typeface="+mn-lt"/>
              </a:rPr>
              <a:t>(N)</a:t>
            </a:r>
            <a:r>
              <a:rPr lang="en-US" dirty="0"/>
              <a:t>, the function returns a </a:t>
            </a:r>
            <a:r>
              <a:rPr lang="en-US" dirty="0">
                <a:solidFill>
                  <a:srgbClr val="C00000"/>
                </a:solidFill>
              </a:rPr>
              <a:t>list</a:t>
            </a:r>
            <a:r>
              <a:rPr lang="en-US" dirty="0"/>
              <a:t> of all the prime factors of integer N. E.g., if N=24, it returns [2,2,2,3].</a:t>
            </a:r>
          </a:p>
          <a:p>
            <a:r>
              <a:rPr lang="en-US" dirty="0"/>
              <a:t>Write a Python function </a:t>
            </a:r>
            <a:r>
              <a:rPr lang="en-US" dirty="0" err="1">
                <a:latin typeface="+mn-lt"/>
              </a:rPr>
              <a:t>distinctPrimeFactors</a:t>
            </a:r>
            <a:r>
              <a:rPr lang="en-US" dirty="0">
                <a:latin typeface="+mn-lt"/>
              </a:rPr>
              <a:t>(N)</a:t>
            </a:r>
            <a:r>
              <a:rPr lang="en-US" dirty="0"/>
              <a:t>, the function returns a </a:t>
            </a:r>
            <a:r>
              <a:rPr lang="en-US" dirty="0">
                <a:solidFill>
                  <a:srgbClr val="C00000"/>
                </a:solidFill>
              </a:rPr>
              <a:t>set</a:t>
            </a:r>
            <a:r>
              <a:rPr lang="en-US" dirty="0"/>
              <a:t> of all the distinct prime factors of integer N. E.g., if N=24, it returns [2,3].</a:t>
            </a:r>
          </a:p>
          <a:p>
            <a:endParaRPr lang="en-US" dirty="0"/>
          </a:p>
          <a:p>
            <a:r>
              <a:rPr lang="en-US" dirty="0"/>
              <a:t>Write a Python program which read the txt file offered by the teacher. The txt file contains 1440 temperature samples in one day (1/minute</a:t>
            </a:r>
            <a:r>
              <a:rPr lang="en-US"/>
              <a:t>). Please </a:t>
            </a:r>
            <a:r>
              <a:rPr lang="en-US" dirty="0"/>
              <a:t>find out how many </a:t>
            </a:r>
            <a:r>
              <a:rPr lang="en-US" dirty="0">
                <a:solidFill>
                  <a:srgbClr val="C00000"/>
                </a:solidFill>
              </a:rPr>
              <a:t>local maxima</a:t>
            </a:r>
            <a:r>
              <a:rPr lang="en-US" dirty="0"/>
              <a:t> this curve has.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4E4F5-2CFC-4CF1-B85C-24B8FE4A2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AD47B-1DEF-4AE7-9253-01D729E0EBD7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F7EAC-EA60-4BDF-973C-E80676BE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CHAO GAO, VAMK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50BA2-4298-4405-9E8D-CA0448BE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16993-BDEA-4A98-891E-50A6DA8CA3A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485"/>
      </p:ext>
    </p:extLst>
  </p:cSld>
  <p:clrMapOvr>
    <a:masterClrMapping/>
  </p:clrMapOvr>
</p:sld>
</file>

<file path=ppt/theme/theme1.xml><?xml version="1.0" encoding="utf-8"?>
<a:theme xmlns:a="http://schemas.openxmlformats.org/drawingml/2006/main" name="Chapter1-Intro_1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</a:spPr>
      <a:bodyPr wrap="square" rtlCol="0" anchor="ctr">
        <a:noAutofit/>
      </a:bodyPr>
      <a:lstStyle>
        <a:defPPr algn="ctr" defTabSz="358775">
          <a:defRPr sz="1000" dirty="0" smtClean="0">
            <a:latin typeface="Consolas" pitchFamily="49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txDef>
      <a:spPr>
        <a:solidFill>
          <a:schemeClr val="accent4">
            <a:lumMod val="20000"/>
            <a:lumOff val="80000"/>
          </a:schemeClr>
        </a:solidFill>
        <a:ln>
          <a:solidFill>
            <a:schemeClr val="accent1"/>
          </a:solidFill>
        </a:ln>
      </a:spPr>
      <a:bodyPr wrap="none" rtlCol="0">
        <a:spAutoFit/>
      </a:bodyPr>
      <a:lstStyle>
        <a:defPPr algn="l">
          <a:defRPr sz="1200" dirty="0" smtClean="0">
            <a:solidFill>
              <a:schemeClr val="bg2"/>
            </a:solidFill>
            <a:latin typeface="Consolas" panose="020B0609020204030204" pitchFamily="49" charset="0"/>
            <a:ea typeface="Cambria Math" panose="02040503050406030204" pitchFamily="18" charset="0"/>
            <a:cs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1518</TotalTime>
  <Words>2371</Words>
  <Application>Microsoft Office PowerPoint</Application>
  <PresentationFormat>On-screen Show (4:3)</PresentationFormat>
  <Paragraphs>296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Bierstadt</vt:lpstr>
      <vt:lpstr>Arial</vt:lpstr>
      <vt:lpstr>Britannic Bold</vt:lpstr>
      <vt:lpstr>Calibri</vt:lpstr>
      <vt:lpstr>Cambria Math</vt:lpstr>
      <vt:lpstr>Colonna MT</vt:lpstr>
      <vt:lpstr>Consolas</vt:lpstr>
      <vt:lpstr>Courier New</vt:lpstr>
      <vt:lpstr>Chapter1-Intro_16</vt:lpstr>
      <vt:lpstr>Data Structures and Algorithms in Python</vt:lpstr>
      <vt:lpstr>Course Content</vt:lpstr>
      <vt:lpstr>Chapter 0 Python Basics</vt:lpstr>
      <vt:lpstr>What is and Why Python</vt:lpstr>
      <vt:lpstr>Python Programming/Debugging Environment</vt:lpstr>
      <vt:lpstr>Data Structure 101: Use Correct Data Types</vt:lpstr>
      <vt:lpstr>Python Operators and Operator Precedence</vt:lpstr>
      <vt:lpstr>List, Tuple, Set, Dictionary</vt:lpstr>
      <vt:lpstr>Slicing and Indexing of List</vt:lpstr>
      <vt:lpstr>Python Flow Control</vt:lpstr>
      <vt:lpstr>Python Functions</vt:lpstr>
      <vt:lpstr>Built-in Functions</vt:lpstr>
      <vt:lpstr>Python File Operations</vt:lpstr>
      <vt:lpstr>Python Examples: Finding all the primes below N</vt:lpstr>
      <vt:lpstr>Python Examples: Finding all the primes below N</vt:lpstr>
      <vt:lpstr>Algorithm Efficiency: Execution Time</vt:lpstr>
      <vt:lpstr>Homework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in Python</dc:title>
  <dc:creator>Gao, Chao</dc:creator>
  <cp:lastModifiedBy>Gao, Chao</cp:lastModifiedBy>
  <cp:revision>63</cp:revision>
  <dcterms:created xsi:type="dcterms:W3CDTF">2023-05-19T06:57:21Z</dcterms:created>
  <dcterms:modified xsi:type="dcterms:W3CDTF">2024-10-03T10:00:23Z</dcterms:modified>
</cp:coreProperties>
</file>